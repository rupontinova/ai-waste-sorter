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ileron Heavy" charset="1" panose="00000A00000000000000"/>
      <p:regular r:id="rId15"/>
    </p:embeddedFont>
    <p:embeddedFont>
      <p:font typeface="Public Sans Bold" charset="1" panose="00000000000000000000"/>
      <p:regular r:id="rId16"/>
    </p:embeddedFont>
    <p:embeddedFont>
      <p:font typeface="Public Sans Medium" charset="1" panose="00000000000000000000"/>
      <p:regular r:id="rId17"/>
    </p:embeddedFont>
    <p:embeddedFont>
      <p:font typeface="Public Sans" charset="1" panose="00000000000000000000"/>
      <p:regular r:id="rId18"/>
    </p:embeddedFont>
    <p:embeddedFont>
      <p:font typeface="Aileron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Aileron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38396" y="2435106"/>
            <a:ext cx="8850327" cy="4925266"/>
            <a:chOff x="0" y="0"/>
            <a:chExt cx="1255151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5151" cy="698500"/>
            </a:xfrm>
            <a:custGeom>
              <a:avLst/>
              <a:gdLst/>
              <a:ahLst/>
              <a:cxnLst/>
              <a:rect r="r" b="b" t="t" l="l"/>
              <a:pathLst>
                <a:path h="698500" w="1255151">
                  <a:moveTo>
                    <a:pt x="1255151" y="349250"/>
                  </a:moveTo>
                  <a:lnTo>
                    <a:pt x="105195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51951" y="0"/>
                  </a:lnTo>
                  <a:lnTo>
                    <a:pt x="1255151" y="349250"/>
                  </a:lnTo>
                  <a:close/>
                </a:path>
              </a:pathLst>
            </a:custGeom>
            <a:blipFill>
              <a:blip r:embed="rId2"/>
              <a:stretch>
                <a:fillRect l="-14787" t="-14992" r="0" b="-201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5887" y="8011494"/>
            <a:ext cx="18679775" cy="2965414"/>
          </a:xfrm>
          <a:custGeom>
            <a:avLst/>
            <a:gdLst/>
            <a:ahLst/>
            <a:cxnLst/>
            <a:rect r="r" b="b" t="t" l="l"/>
            <a:pathLst>
              <a:path h="2965414" w="18679775">
                <a:moveTo>
                  <a:pt x="0" y="0"/>
                </a:moveTo>
                <a:lnTo>
                  <a:pt x="18679774" y="0"/>
                </a:lnTo>
                <a:lnTo>
                  <a:pt x="18679774" y="2965414"/>
                </a:lnTo>
                <a:lnTo>
                  <a:pt x="0" y="296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17767" y="1722872"/>
            <a:ext cx="1376781" cy="466385"/>
          </a:xfrm>
          <a:custGeom>
            <a:avLst/>
            <a:gdLst/>
            <a:ahLst/>
            <a:cxnLst/>
            <a:rect r="r" b="b" t="t" l="l"/>
            <a:pathLst>
              <a:path h="466385" w="1376781">
                <a:moveTo>
                  <a:pt x="0" y="0"/>
                </a:moveTo>
                <a:lnTo>
                  <a:pt x="1376781" y="0"/>
                </a:lnTo>
                <a:lnTo>
                  <a:pt x="1376781" y="466384"/>
                </a:lnTo>
                <a:lnTo>
                  <a:pt x="0" y="466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144366" y="-57150"/>
            <a:ext cx="4339521" cy="3800697"/>
          </a:xfrm>
          <a:custGeom>
            <a:avLst/>
            <a:gdLst/>
            <a:ahLst/>
            <a:cxnLst/>
            <a:rect r="r" b="b" t="t" l="l"/>
            <a:pathLst>
              <a:path h="3800697" w="4339521">
                <a:moveTo>
                  <a:pt x="4339521" y="3800697"/>
                </a:moveTo>
                <a:lnTo>
                  <a:pt x="0" y="3800697"/>
                </a:lnTo>
                <a:lnTo>
                  <a:pt x="0" y="0"/>
                </a:lnTo>
                <a:lnTo>
                  <a:pt x="4339521" y="0"/>
                </a:lnTo>
                <a:lnTo>
                  <a:pt x="4339521" y="380069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83670" y="4183835"/>
            <a:ext cx="1116701" cy="959665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54730" y="4380033"/>
            <a:ext cx="574582" cy="567269"/>
          </a:xfrm>
          <a:custGeom>
            <a:avLst/>
            <a:gdLst/>
            <a:ahLst/>
            <a:cxnLst/>
            <a:rect r="r" b="b" t="t" l="l"/>
            <a:pathLst>
              <a:path h="567269" w="574582">
                <a:moveTo>
                  <a:pt x="0" y="0"/>
                </a:moveTo>
                <a:lnTo>
                  <a:pt x="574582" y="0"/>
                </a:lnTo>
                <a:lnTo>
                  <a:pt x="574582" y="567269"/>
                </a:lnTo>
                <a:lnTo>
                  <a:pt x="0" y="5672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18358" y="2303764"/>
            <a:ext cx="10165530" cy="259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499" b="true">
                <a:solidFill>
                  <a:srgbClr val="8BDDC3"/>
                </a:solidFill>
                <a:latin typeface="Aileron Heavy"/>
                <a:ea typeface="Aileron Heavy"/>
                <a:cs typeface="Aileron Heavy"/>
                <a:sym typeface="Aileron Heavy"/>
              </a:rPr>
              <a:t>AI-POWERED SMART</a:t>
            </a:r>
          </a:p>
          <a:p>
            <a:pPr algn="l">
              <a:lnSpc>
                <a:spcPts val="6874"/>
              </a:lnSpc>
            </a:pPr>
            <a:r>
              <a:rPr lang="en-US" sz="5499" b="true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WASTE CLASSIFICATION SYSTEM WEBAPP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18358" y="5143500"/>
            <a:ext cx="7692652" cy="749054"/>
            <a:chOff x="0" y="0"/>
            <a:chExt cx="2026048" cy="197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6048" cy="197282"/>
            </a:xfrm>
            <a:custGeom>
              <a:avLst/>
              <a:gdLst/>
              <a:ahLst/>
              <a:cxnLst/>
              <a:rect r="r" b="b" t="t" l="l"/>
              <a:pathLst>
                <a:path h="197282" w="2026048">
                  <a:moveTo>
                    <a:pt x="0" y="0"/>
                  </a:moveTo>
                  <a:lnTo>
                    <a:pt x="2026048" y="0"/>
                  </a:lnTo>
                  <a:lnTo>
                    <a:pt x="2026048" y="197282"/>
                  </a:lnTo>
                  <a:lnTo>
                    <a:pt x="0" y="197282"/>
                  </a:lnTo>
                  <a:close/>
                </a:path>
              </a:pathLst>
            </a:custGeom>
            <a:solidFill>
              <a:srgbClr val="81D4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6048" cy="235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771135" y="5345624"/>
            <a:ext cx="754299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 Intelligent Object Detection-Based Waste Sorting Solution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9497" y="1695079"/>
            <a:ext cx="309562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Project Proposal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954730" y="6157682"/>
            <a:ext cx="11817297" cy="2405380"/>
            <a:chOff x="0" y="0"/>
            <a:chExt cx="15756397" cy="320717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7591975" cy="2613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20"/>
                </a:lnSpc>
              </a:pPr>
              <a:r>
                <a:rPr lang="en-US" b="true" sz="2800" u="sng">
                  <a:solidFill>
                    <a:srgbClr val="FFFFFF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Presented By:</a:t>
              </a:r>
            </a:p>
            <a:p>
              <a:pPr algn="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Ruponti Muin Nova (2254901038)</a:t>
              </a:r>
            </a:p>
            <a:p>
              <a:pPr algn="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Sadia Alam (2254901048)</a:t>
              </a:r>
            </a:p>
            <a:p>
              <a:pPr algn="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Department of ICT, BUP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164422" y="-66675"/>
              <a:ext cx="7591975" cy="327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u="sng" b="true">
                  <a:solidFill>
                    <a:srgbClr val="FFFFFF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rPr>
                <a:t>Presented To:</a:t>
              </a:r>
            </a:p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Nazneen Akter, Assistant Professor, ICT, BUP </a:t>
              </a:r>
            </a:p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Md. Sazzadul Islam Prottasha</a:t>
              </a:r>
            </a:p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Lecturer, ICT, BUP</a:t>
              </a:r>
            </a:p>
          </p:txBody>
        </p:sp>
        <p:sp>
          <p:nvSpPr>
            <p:cNvPr name="AutoShape 21" id="21"/>
            <p:cNvSpPr/>
            <p:nvPr/>
          </p:nvSpPr>
          <p:spPr>
            <a:xfrm flipH="true" flipV="true">
              <a:off x="7878198" y="94481"/>
              <a:ext cx="0" cy="3018211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03725" y="-57150"/>
            <a:ext cx="3729718" cy="3266612"/>
          </a:xfrm>
          <a:custGeom>
            <a:avLst/>
            <a:gdLst/>
            <a:ahLst/>
            <a:cxnLst/>
            <a:rect r="r" b="b" t="t" l="l"/>
            <a:pathLst>
              <a:path h="3266612" w="3729718">
                <a:moveTo>
                  <a:pt x="0" y="3266612"/>
                </a:moveTo>
                <a:lnTo>
                  <a:pt x="3729719" y="3266612"/>
                </a:lnTo>
                <a:lnTo>
                  <a:pt x="3729719" y="0"/>
                </a:lnTo>
                <a:lnTo>
                  <a:pt x="0" y="0"/>
                </a:lnTo>
                <a:lnTo>
                  <a:pt x="0" y="32666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54169" y="-57150"/>
            <a:ext cx="3729718" cy="3266612"/>
          </a:xfrm>
          <a:custGeom>
            <a:avLst/>
            <a:gdLst/>
            <a:ahLst/>
            <a:cxnLst/>
            <a:rect r="r" b="b" t="t" l="l"/>
            <a:pathLst>
              <a:path h="3266612" w="3729718">
                <a:moveTo>
                  <a:pt x="3729718" y="3266612"/>
                </a:moveTo>
                <a:lnTo>
                  <a:pt x="0" y="3266612"/>
                </a:lnTo>
                <a:lnTo>
                  <a:pt x="0" y="0"/>
                </a:lnTo>
                <a:lnTo>
                  <a:pt x="3729718" y="0"/>
                </a:lnTo>
                <a:lnTo>
                  <a:pt x="3729718" y="32666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71763" y="3063431"/>
            <a:ext cx="15344475" cy="3552087"/>
            <a:chOff x="0" y="0"/>
            <a:chExt cx="4041343" cy="935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1343" cy="935529"/>
            </a:xfrm>
            <a:custGeom>
              <a:avLst/>
              <a:gdLst/>
              <a:ahLst/>
              <a:cxnLst/>
              <a:rect r="r" b="b" t="t" l="l"/>
              <a:pathLst>
                <a:path h="935529" w="4041343">
                  <a:moveTo>
                    <a:pt x="0" y="0"/>
                  </a:moveTo>
                  <a:lnTo>
                    <a:pt x="4041343" y="0"/>
                  </a:lnTo>
                  <a:lnTo>
                    <a:pt x="4041343" y="935529"/>
                  </a:lnTo>
                  <a:lnTo>
                    <a:pt x="0" y="935529"/>
                  </a:lnTo>
                  <a:close/>
                </a:path>
              </a:pathLst>
            </a:custGeom>
            <a:solidFill>
              <a:srgbClr val="81D4B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41343" cy="973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73122" y="6348789"/>
            <a:ext cx="19163998" cy="4120348"/>
            <a:chOff x="0" y="0"/>
            <a:chExt cx="2969005" cy="638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69005" cy="638350"/>
            </a:xfrm>
            <a:custGeom>
              <a:avLst/>
              <a:gdLst/>
              <a:ahLst/>
              <a:cxnLst/>
              <a:rect r="r" b="b" t="t" l="l"/>
              <a:pathLst>
                <a:path h="638350" w="2969005">
                  <a:moveTo>
                    <a:pt x="0" y="0"/>
                  </a:moveTo>
                  <a:lnTo>
                    <a:pt x="2969005" y="0"/>
                  </a:lnTo>
                  <a:lnTo>
                    <a:pt x="2969005" y="638350"/>
                  </a:lnTo>
                  <a:lnTo>
                    <a:pt x="0" y="638350"/>
                  </a:lnTo>
                  <a:close/>
                </a:path>
              </a:pathLst>
            </a:custGeom>
            <a:blipFill>
              <a:blip r:embed="rId4"/>
              <a:stretch>
                <a:fillRect l="0" t="-88039" r="0" b="-1218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78402" y="1538056"/>
            <a:ext cx="13131196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5"/>
              </a:lnSpc>
            </a:pPr>
            <a:r>
              <a:rPr lang="en-US" b="true" sz="7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0450" y="3152863"/>
            <a:ext cx="13907100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 Dhaka city, frequent drain clogs and waterlogging during rain are common due to poor waste management.</a:t>
            </a:r>
          </a:p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Many people cannot properly identify or separate waste types before disposal.</a:t>
            </a:r>
          </a:p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This project proposes an AI-based system to automatically detect and classify waste from images— improving sorting efficiency, reducing human effort,and promoting sustainable waste management.</a:t>
            </a:r>
          </a:p>
          <a:p>
            <a:pPr algn="just">
              <a:lnSpc>
                <a:spcPts val="392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320487" y="795508"/>
            <a:ext cx="1376781" cy="466385"/>
          </a:xfrm>
          <a:custGeom>
            <a:avLst/>
            <a:gdLst/>
            <a:ahLst/>
            <a:cxnLst/>
            <a:rect r="r" b="b" t="t" l="l"/>
            <a:pathLst>
              <a:path h="466385" w="1376781">
                <a:moveTo>
                  <a:pt x="0" y="0"/>
                </a:moveTo>
                <a:lnTo>
                  <a:pt x="1376781" y="0"/>
                </a:lnTo>
                <a:lnTo>
                  <a:pt x="1376781" y="466384"/>
                </a:lnTo>
                <a:lnTo>
                  <a:pt x="0" y="4663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8596" y="220935"/>
            <a:ext cx="5178437" cy="71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Intelligence 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4222" y="1691235"/>
            <a:ext cx="10415606" cy="7805190"/>
            <a:chOff x="0" y="0"/>
            <a:chExt cx="932111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2111" cy="698500"/>
            </a:xfrm>
            <a:custGeom>
              <a:avLst/>
              <a:gdLst/>
              <a:ahLst/>
              <a:cxnLst/>
              <a:rect r="r" b="b" t="t" l="l"/>
              <a:pathLst>
                <a:path h="698500" w="932111">
                  <a:moveTo>
                    <a:pt x="932111" y="349250"/>
                  </a:moveTo>
                  <a:lnTo>
                    <a:pt x="72891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8911" y="0"/>
                  </a:lnTo>
                  <a:lnTo>
                    <a:pt x="932111" y="349250"/>
                  </a:lnTo>
                  <a:close/>
                </a:path>
              </a:pathLst>
            </a:custGeom>
            <a:blipFill>
              <a:blip r:embed="rId2"/>
              <a:stretch>
                <a:fillRect l="-6556" t="0" r="-655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2560" y="9448800"/>
            <a:ext cx="18718944" cy="1013936"/>
            <a:chOff x="0" y="0"/>
            <a:chExt cx="4930092" cy="267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30092" cy="267045"/>
            </a:xfrm>
            <a:custGeom>
              <a:avLst/>
              <a:gdLst/>
              <a:ahLst/>
              <a:cxnLst/>
              <a:rect r="r" b="b" t="t" l="l"/>
              <a:pathLst>
                <a:path h="267045" w="4930092">
                  <a:moveTo>
                    <a:pt x="0" y="0"/>
                  </a:moveTo>
                  <a:lnTo>
                    <a:pt x="4930092" y="0"/>
                  </a:lnTo>
                  <a:lnTo>
                    <a:pt x="4930092" y="267045"/>
                  </a:lnTo>
                  <a:lnTo>
                    <a:pt x="0" y="2670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30092" cy="305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266" y="4102214"/>
            <a:ext cx="8953903" cy="4801682"/>
            <a:chOff x="0" y="0"/>
            <a:chExt cx="2358230" cy="12646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58230" cy="1264641"/>
            </a:xfrm>
            <a:custGeom>
              <a:avLst/>
              <a:gdLst/>
              <a:ahLst/>
              <a:cxnLst/>
              <a:rect r="r" b="b" t="t" l="l"/>
              <a:pathLst>
                <a:path h="1264641" w="2358230">
                  <a:moveTo>
                    <a:pt x="0" y="0"/>
                  </a:moveTo>
                  <a:lnTo>
                    <a:pt x="2358230" y="0"/>
                  </a:lnTo>
                  <a:lnTo>
                    <a:pt x="2358230" y="1264641"/>
                  </a:lnTo>
                  <a:lnTo>
                    <a:pt x="0" y="1264641"/>
                  </a:lnTo>
                  <a:close/>
                </a:path>
              </a:pathLst>
            </a:custGeom>
            <a:solidFill>
              <a:srgbClr val="81D4B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58230" cy="130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3266" y="1180936"/>
            <a:ext cx="8537285" cy="23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81D4BA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</a:t>
            </a:r>
            <a:r>
              <a:rPr lang="en-US" sz="7500" b="true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266" y="4641850"/>
            <a:ext cx="8651851" cy="461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Lack of automated waste segregation systems.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Manual sorting exposes workers to health hazards.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Need for a smart, low-cost, and accessible solution that can operate via simple web or camera input.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40059" y="1553985"/>
            <a:ext cx="2595174" cy="537893"/>
          </a:xfrm>
          <a:custGeom>
            <a:avLst/>
            <a:gdLst/>
            <a:ahLst/>
            <a:cxnLst/>
            <a:rect r="r" b="b" t="t" l="l"/>
            <a:pathLst>
              <a:path h="537893" w="2595174">
                <a:moveTo>
                  <a:pt x="0" y="0"/>
                </a:moveTo>
                <a:lnTo>
                  <a:pt x="2595174" y="0"/>
                </a:lnTo>
                <a:lnTo>
                  <a:pt x="2595174" y="537893"/>
                </a:lnTo>
                <a:lnTo>
                  <a:pt x="0" y="537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085686" y="1028700"/>
            <a:ext cx="2924328" cy="990616"/>
          </a:xfrm>
          <a:custGeom>
            <a:avLst/>
            <a:gdLst/>
            <a:ahLst/>
            <a:cxnLst/>
            <a:rect r="r" b="b" t="t" l="l"/>
            <a:pathLst>
              <a:path h="990616" w="2924328">
                <a:moveTo>
                  <a:pt x="2924328" y="0"/>
                </a:moveTo>
                <a:lnTo>
                  <a:pt x="0" y="0"/>
                </a:lnTo>
                <a:lnTo>
                  <a:pt x="0" y="990616"/>
                </a:lnTo>
                <a:lnTo>
                  <a:pt x="2924328" y="990616"/>
                </a:lnTo>
                <a:lnTo>
                  <a:pt x="292432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2560" y="9448800"/>
            <a:ext cx="18718944" cy="1013936"/>
            <a:chOff x="0" y="0"/>
            <a:chExt cx="4930092" cy="267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0092" cy="267045"/>
            </a:xfrm>
            <a:custGeom>
              <a:avLst/>
              <a:gdLst/>
              <a:ahLst/>
              <a:cxnLst/>
              <a:rect r="r" b="b" t="t" l="l"/>
              <a:pathLst>
                <a:path h="267045" w="4930092">
                  <a:moveTo>
                    <a:pt x="0" y="0"/>
                  </a:moveTo>
                  <a:lnTo>
                    <a:pt x="4930092" y="0"/>
                  </a:lnTo>
                  <a:lnTo>
                    <a:pt x="4930092" y="267045"/>
                  </a:lnTo>
                  <a:lnTo>
                    <a:pt x="0" y="2670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0092" cy="305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25214" y="4108285"/>
            <a:ext cx="10721494" cy="5150015"/>
            <a:chOff x="0" y="0"/>
            <a:chExt cx="2823768" cy="1356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3768" cy="1356383"/>
            </a:xfrm>
            <a:custGeom>
              <a:avLst/>
              <a:gdLst/>
              <a:ahLst/>
              <a:cxnLst/>
              <a:rect r="r" b="b" t="t" l="l"/>
              <a:pathLst>
                <a:path h="1356383" w="2823768">
                  <a:moveTo>
                    <a:pt x="0" y="0"/>
                  </a:moveTo>
                  <a:lnTo>
                    <a:pt x="2823768" y="0"/>
                  </a:lnTo>
                  <a:lnTo>
                    <a:pt x="2823768" y="1356383"/>
                  </a:lnTo>
                  <a:lnTo>
                    <a:pt x="0" y="1356383"/>
                  </a:lnTo>
                  <a:close/>
                </a:path>
              </a:pathLst>
            </a:custGeom>
            <a:solidFill>
              <a:srgbClr val="81D4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23768" cy="1394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1261" y="4339747"/>
            <a:ext cx="5668362" cy="4585514"/>
            <a:chOff x="0" y="0"/>
            <a:chExt cx="1040886" cy="842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0886" cy="842042"/>
            </a:xfrm>
            <a:custGeom>
              <a:avLst/>
              <a:gdLst/>
              <a:ahLst/>
              <a:cxnLst/>
              <a:rect r="r" b="b" t="t" l="l"/>
              <a:pathLst>
                <a:path h="842042" w="1040886">
                  <a:moveTo>
                    <a:pt x="0" y="0"/>
                  </a:moveTo>
                  <a:lnTo>
                    <a:pt x="1040886" y="0"/>
                  </a:lnTo>
                  <a:lnTo>
                    <a:pt x="1040886" y="842042"/>
                  </a:lnTo>
                  <a:lnTo>
                    <a:pt x="0" y="842042"/>
                  </a:lnTo>
                  <a:close/>
                </a:path>
              </a:pathLst>
            </a:custGeom>
            <a:blipFill>
              <a:blip r:embed="rId2"/>
              <a:stretch>
                <a:fillRect l="-14717" t="0" r="-147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215184" y="1444483"/>
            <a:ext cx="11044116" cy="23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81D4BA"/>
                </a:solidFill>
                <a:latin typeface="Aileron Heavy"/>
                <a:ea typeface="Aileron Heavy"/>
                <a:cs typeface="Aileron Heavy"/>
                <a:sym typeface="Aileron Heavy"/>
              </a:rPr>
              <a:t>OBJECTIVES </a:t>
            </a:r>
          </a:p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OF OUR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5777" y="4527834"/>
            <a:ext cx="9722930" cy="457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9274" indent="-279637" lvl="1">
              <a:lnSpc>
                <a:spcPts val="3626"/>
              </a:lnSpc>
              <a:buFont typeface="Arial"/>
              <a:buChar char="•"/>
            </a:pPr>
            <a:r>
              <a:rPr lang="en-US" b="true" sz="259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Develop an AI model capable of detecting waste types from images.</a:t>
            </a:r>
          </a:p>
          <a:p>
            <a:pPr algn="just" marL="559274" indent="-279637" lvl="1">
              <a:lnSpc>
                <a:spcPts val="3626"/>
              </a:lnSpc>
              <a:buFont typeface="Arial"/>
              <a:buChar char="•"/>
            </a:pPr>
            <a:r>
              <a:rPr lang="en-US" b="true" sz="259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Build a Flask-based backend for AI inference and API services.</a:t>
            </a:r>
          </a:p>
          <a:p>
            <a:pPr algn="just" marL="559274" indent="-279637" lvl="1">
              <a:lnSpc>
                <a:spcPts val="3626"/>
              </a:lnSpc>
              <a:buFont typeface="Arial"/>
              <a:buChar char="•"/>
            </a:pPr>
            <a:r>
              <a:rPr lang="en-US" b="true" sz="259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Design a React-based web interface for end users to upload images.</a:t>
            </a:r>
          </a:p>
          <a:p>
            <a:pPr algn="just" marL="559274" indent="-279637" lvl="1">
              <a:lnSpc>
                <a:spcPts val="3626"/>
              </a:lnSpc>
              <a:buFont typeface="Arial"/>
              <a:buChar char="•"/>
            </a:pPr>
            <a:r>
              <a:rPr lang="en-US" b="true" sz="259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Classify waste into categories such as Plastic, Paper, Metal, Organic and others</a:t>
            </a:r>
          </a:p>
          <a:p>
            <a:pPr algn="just" marL="559274" indent="-279637" lvl="1">
              <a:lnSpc>
                <a:spcPts val="3626"/>
              </a:lnSpc>
              <a:buFont typeface="Arial"/>
              <a:buChar char="•"/>
            </a:pPr>
            <a:r>
              <a:rPr lang="en-US" b="true" sz="259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Enable future scalability for IoT Smart Bin automation.</a:t>
            </a:r>
          </a:p>
          <a:p>
            <a:pPr algn="just">
              <a:lnSpc>
                <a:spcPts val="3626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-203725" y="-57150"/>
            <a:ext cx="5020243" cy="4396897"/>
          </a:xfrm>
          <a:custGeom>
            <a:avLst/>
            <a:gdLst/>
            <a:ahLst/>
            <a:cxnLst/>
            <a:rect r="r" b="b" t="t" l="l"/>
            <a:pathLst>
              <a:path h="4396897" w="5020243">
                <a:moveTo>
                  <a:pt x="0" y="4396897"/>
                </a:moveTo>
                <a:lnTo>
                  <a:pt x="5020244" y="4396897"/>
                </a:lnTo>
                <a:lnTo>
                  <a:pt x="5020244" y="0"/>
                </a:lnTo>
                <a:lnTo>
                  <a:pt x="0" y="0"/>
                </a:lnTo>
                <a:lnTo>
                  <a:pt x="0" y="43968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62555" y="1834074"/>
            <a:ext cx="2335612" cy="484095"/>
          </a:xfrm>
          <a:custGeom>
            <a:avLst/>
            <a:gdLst/>
            <a:ahLst/>
            <a:cxnLst/>
            <a:rect r="r" b="b" t="t" l="l"/>
            <a:pathLst>
              <a:path h="484095" w="2335612">
                <a:moveTo>
                  <a:pt x="0" y="0"/>
                </a:moveTo>
                <a:lnTo>
                  <a:pt x="2335612" y="0"/>
                </a:lnTo>
                <a:lnTo>
                  <a:pt x="2335612" y="484095"/>
                </a:lnTo>
                <a:lnTo>
                  <a:pt x="0" y="4840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92072" y="3524129"/>
            <a:ext cx="1724447" cy="584156"/>
          </a:xfrm>
          <a:custGeom>
            <a:avLst/>
            <a:gdLst/>
            <a:ahLst/>
            <a:cxnLst/>
            <a:rect r="r" b="b" t="t" l="l"/>
            <a:pathLst>
              <a:path h="584156" w="1724447">
                <a:moveTo>
                  <a:pt x="0" y="0"/>
                </a:moveTo>
                <a:lnTo>
                  <a:pt x="1724447" y="0"/>
                </a:lnTo>
                <a:lnTo>
                  <a:pt x="1724447" y="584156"/>
                </a:lnTo>
                <a:lnTo>
                  <a:pt x="0" y="584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8596" y="220935"/>
            <a:ext cx="5178437" cy="71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740663" y="1124704"/>
            <a:ext cx="2096488" cy="710185"/>
          </a:xfrm>
          <a:custGeom>
            <a:avLst/>
            <a:gdLst/>
            <a:ahLst/>
            <a:cxnLst/>
            <a:rect r="r" b="b" t="t" l="l"/>
            <a:pathLst>
              <a:path h="710185" w="2096488">
                <a:moveTo>
                  <a:pt x="0" y="0"/>
                </a:moveTo>
                <a:lnTo>
                  <a:pt x="2096488" y="0"/>
                </a:lnTo>
                <a:lnTo>
                  <a:pt x="2096488" y="710185"/>
                </a:lnTo>
                <a:lnTo>
                  <a:pt x="0" y="71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52769" y="3269140"/>
            <a:ext cx="10382462" cy="6277889"/>
            <a:chOff x="0" y="0"/>
            <a:chExt cx="13843283" cy="83705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88601" y="0"/>
              <a:ext cx="12780591" cy="1196354"/>
              <a:chOff x="0" y="0"/>
              <a:chExt cx="1555472" cy="14560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55472" cy="145603"/>
              </a:xfrm>
              <a:custGeom>
                <a:avLst/>
                <a:gdLst/>
                <a:ahLst/>
                <a:cxnLst/>
                <a:rect r="r" b="b" t="t" l="l"/>
                <a:pathLst>
                  <a:path h="145603" w="1555472">
                    <a:moveTo>
                      <a:pt x="0" y="0"/>
                    </a:moveTo>
                    <a:lnTo>
                      <a:pt x="1555472" y="0"/>
                    </a:lnTo>
                    <a:lnTo>
                      <a:pt x="1555472" y="145603"/>
                    </a:lnTo>
                    <a:lnTo>
                      <a:pt x="0" y="145603"/>
                    </a:lnTo>
                    <a:close/>
                  </a:path>
                </a:pathLst>
              </a:custGeom>
              <a:solidFill>
                <a:srgbClr val="81D4B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555472" cy="183703"/>
              </a:xfrm>
              <a:prstGeom prst="rect">
                <a:avLst/>
              </a:prstGeom>
            </p:spPr>
            <p:txBody>
              <a:bodyPr anchor="ctr" rtlCol="false" tIns="40830" lIns="40830" bIns="40830" rIns="4083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88601" y="3585940"/>
              <a:ext cx="12780591" cy="1196354"/>
              <a:chOff x="0" y="0"/>
              <a:chExt cx="1555472" cy="14560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55472" cy="145603"/>
              </a:xfrm>
              <a:custGeom>
                <a:avLst/>
                <a:gdLst/>
                <a:ahLst/>
                <a:cxnLst/>
                <a:rect r="r" b="b" t="t" l="l"/>
                <a:pathLst>
                  <a:path h="145603" w="1555472">
                    <a:moveTo>
                      <a:pt x="0" y="0"/>
                    </a:moveTo>
                    <a:lnTo>
                      <a:pt x="1555472" y="0"/>
                    </a:lnTo>
                    <a:lnTo>
                      <a:pt x="1555472" y="145603"/>
                    </a:lnTo>
                    <a:lnTo>
                      <a:pt x="0" y="145603"/>
                    </a:lnTo>
                    <a:close/>
                  </a:path>
                </a:pathLst>
              </a:custGeom>
              <a:solidFill>
                <a:srgbClr val="81D4B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555472" cy="183703"/>
              </a:xfrm>
              <a:prstGeom prst="rect">
                <a:avLst/>
              </a:prstGeom>
            </p:spPr>
            <p:txBody>
              <a:bodyPr anchor="ctr" rtlCol="false" tIns="40830" lIns="40830" bIns="40830" rIns="4083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88601" y="5380052"/>
              <a:ext cx="12780591" cy="1196354"/>
              <a:chOff x="0" y="0"/>
              <a:chExt cx="1555472" cy="14560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55472" cy="145603"/>
              </a:xfrm>
              <a:custGeom>
                <a:avLst/>
                <a:gdLst/>
                <a:ahLst/>
                <a:cxnLst/>
                <a:rect r="r" b="b" t="t" l="l"/>
                <a:pathLst>
                  <a:path h="145603" w="1555472">
                    <a:moveTo>
                      <a:pt x="0" y="0"/>
                    </a:moveTo>
                    <a:lnTo>
                      <a:pt x="1555472" y="0"/>
                    </a:lnTo>
                    <a:lnTo>
                      <a:pt x="1555472" y="145603"/>
                    </a:lnTo>
                    <a:lnTo>
                      <a:pt x="0" y="14560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555472" cy="183703"/>
              </a:xfrm>
              <a:prstGeom prst="rect">
                <a:avLst/>
              </a:prstGeom>
            </p:spPr>
            <p:txBody>
              <a:bodyPr anchor="ctr" rtlCol="false" tIns="40830" lIns="40830" bIns="40830" rIns="4083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16527" y="241519"/>
              <a:ext cx="12524738" cy="631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4"/>
                </a:lnSpc>
              </a:pPr>
              <a:r>
                <a:rPr lang="en-US" sz="2810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User uploads image through web UI.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916527" y="1635429"/>
              <a:ext cx="12780591" cy="1511436"/>
              <a:chOff x="0" y="0"/>
              <a:chExt cx="1555472" cy="1839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55472" cy="183950"/>
              </a:xfrm>
              <a:custGeom>
                <a:avLst/>
                <a:gdLst/>
                <a:ahLst/>
                <a:cxnLst/>
                <a:rect r="r" b="b" t="t" l="l"/>
                <a:pathLst>
                  <a:path h="183950" w="1555472">
                    <a:moveTo>
                      <a:pt x="0" y="0"/>
                    </a:moveTo>
                    <a:lnTo>
                      <a:pt x="1555472" y="0"/>
                    </a:lnTo>
                    <a:lnTo>
                      <a:pt x="1555472" y="183950"/>
                    </a:lnTo>
                    <a:lnTo>
                      <a:pt x="0" y="18395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555472" cy="222050"/>
              </a:xfrm>
              <a:prstGeom prst="rect">
                <a:avLst/>
              </a:prstGeom>
            </p:spPr>
            <p:txBody>
              <a:bodyPr anchor="ctr" rtlCol="false" tIns="40830" lIns="40830" bIns="40830" rIns="4083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66401" y="1708619"/>
              <a:ext cx="12680844" cy="1298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8"/>
                </a:lnSpc>
              </a:pPr>
              <a:r>
                <a:rPr lang="en-US" sz="281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Flask API receives input and processes it using the </a:t>
              </a:r>
            </a:p>
            <a:p>
              <a:pPr algn="ctr">
                <a:lnSpc>
                  <a:spcPts val="3938"/>
                </a:lnSpc>
              </a:pPr>
              <a:r>
                <a:rPr lang="en-US" sz="281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CNN model.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03725" y="3836692"/>
              <a:ext cx="11350342" cy="634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8"/>
                </a:lnSpc>
              </a:pPr>
              <a:r>
                <a:rPr lang="en-US" sz="281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Model detects and classifies waste items.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627445"/>
              <a:ext cx="13843283" cy="634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8"/>
                </a:lnSpc>
              </a:pPr>
              <a:r>
                <a:rPr lang="en-US" sz="281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Results returned as JSON.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788601" y="7174164"/>
              <a:ext cx="12780591" cy="1196354"/>
              <a:chOff x="0" y="0"/>
              <a:chExt cx="1555472" cy="145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555472" cy="145603"/>
              </a:xfrm>
              <a:custGeom>
                <a:avLst/>
                <a:gdLst/>
                <a:ahLst/>
                <a:cxnLst/>
                <a:rect r="r" b="b" t="t" l="l"/>
                <a:pathLst>
                  <a:path h="145603" w="1555472">
                    <a:moveTo>
                      <a:pt x="0" y="0"/>
                    </a:moveTo>
                    <a:lnTo>
                      <a:pt x="1555472" y="0"/>
                    </a:lnTo>
                    <a:lnTo>
                      <a:pt x="1555472" y="145603"/>
                    </a:lnTo>
                    <a:lnTo>
                      <a:pt x="0" y="145603"/>
                    </a:lnTo>
                    <a:close/>
                  </a:path>
                </a:pathLst>
              </a:custGeom>
              <a:solidFill>
                <a:srgbClr val="81D4BA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555472" cy="183703"/>
              </a:xfrm>
              <a:prstGeom prst="rect">
                <a:avLst/>
              </a:prstGeom>
            </p:spPr>
            <p:txBody>
              <a:bodyPr anchor="ctr" rtlCol="false" tIns="40830" lIns="40830" bIns="40830" rIns="4083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57242" y="7421557"/>
              <a:ext cx="10243309" cy="634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8"/>
                </a:lnSpc>
                <a:spcBef>
                  <a:spcPct val="0"/>
                </a:spcBef>
              </a:pPr>
              <a:r>
                <a:rPr lang="en-US" b="true" sz="2813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React displays detections visually to the user.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1674333" y="1441696"/>
            <a:ext cx="12382353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5"/>
              </a:lnSpc>
            </a:pPr>
            <a:r>
              <a:rPr lang="en-US" b="true" sz="750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WORKFLOW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2560" y="9448800"/>
            <a:ext cx="18718944" cy="1013936"/>
            <a:chOff x="0" y="0"/>
            <a:chExt cx="4930092" cy="267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0092" cy="267045"/>
            </a:xfrm>
            <a:custGeom>
              <a:avLst/>
              <a:gdLst/>
              <a:ahLst/>
              <a:cxnLst/>
              <a:rect r="r" b="b" t="t" l="l"/>
              <a:pathLst>
                <a:path h="267045" w="4930092">
                  <a:moveTo>
                    <a:pt x="0" y="0"/>
                  </a:moveTo>
                  <a:lnTo>
                    <a:pt x="4930092" y="0"/>
                  </a:lnTo>
                  <a:lnTo>
                    <a:pt x="4930092" y="267045"/>
                  </a:lnTo>
                  <a:lnTo>
                    <a:pt x="0" y="2670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0092" cy="305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76096" y="4257772"/>
            <a:ext cx="2060670" cy="427108"/>
          </a:xfrm>
          <a:custGeom>
            <a:avLst/>
            <a:gdLst/>
            <a:ahLst/>
            <a:cxnLst/>
            <a:rect r="r" b="b" t="t" l="l"/>
            <a:pathLst>
              <a:path h="427108" w="2060670">
                <a:moveTo>
                  <a:pt x="0" y="0"/>
                </a:moveTo>
                <a:lnTo>
                  <a:pt x="2060670" y="0"/>
                </a:lnTo>
                <a:lnTo>
                  <a:pt x="2060670" y="427109"/>
                </a:lnTo>
                <a:lnTo>
                  <a:pt x="0" y="427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3823" y="1446028"/>
            <a:ext cx="8465818" cy="23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81D4BA"/>
                </a:solidFill>
                <a:latin typeface="Aileron Heavy"/>
                <a:ea typeface="Aileron Heavy"/>
                <a:cs typeface="Aileron Heavy"/>
                <a:sym typeface="Aileron Heavy"/>
              </a:rPr>
              <a:t>PROPOSED</a:t>
            </a:r>
            <a:r>
              <a:rPr lang="en-US" sz="7500" b="true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 SYSTEM (VISUAL)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8936489" y="2295848"/>
            <a:ext cx="2096488" cy="710185"/>
          </a:xfrm>
          <a:custGeom>
            <a:avLst/>
            <a:gdLst/>
            <a:ahLst/>
            <a:cxnLst/>
            <a:rect r="r" b="b" t="t" l="l"/>
            <a:pathLst>
              <a:path h="710185" w="2096488">
                <a:moveTo>
                  <a:pt x="0" y="0"/>
                </a:moveTo>
                <a:lnTo>
                  <a:pt x="2096488" y="0"/>
                </a:lnTo>
                <a:lnTo>
                  <a:pt x="2096488" y="710185"/>
                </a:lnTo>
                <a:lnTo>
                  <a:pt x="0" y="71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155216"/>
            <a:ext cx="16230600" cy="4382262"/>
            <a:chOff x="0" y="0"/>
            <a:chExt cx="21640800" cy="5843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40800" cy="5843016"/>
            </a:xfrm>
            <a:custGeom>
              <a:avLst/>
              <a:gdLst/>
              <a:ahLst/>
              <a:cxnLst/>
              <a:rect r="r" b="b" t="t" l="l"/>
              <a:pathLst>
                <a:path h="5843016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5843016"/>
                  </a:lnTo>
                  <a:lnTo>
                    <a:pt x="0" y="584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4120148" y="2435578"/>
              <a:ext cx="16796613" cy="895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0"/>
                </a:lnSpc>
              </a:pPr>
              <a:r>
                <a:rPr lang="en-US" b="true" sz="4036">
                  <a:solidFill>
                    <a:srgbClr val="032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CNN MODEL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796876" y="4608028"/>
              <a:ext cx="7852424" cy="512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2"/>
                </a:lnSpc>
              </a:pPr>
              <a:r>
                <a:rPr lang="en-US" b="true" sz="2287">
                  <a:solidFill>
                    <a:srgbClr val="03245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CNN MODEL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784504" y="1346941"/>
            <a:ext cx="12382353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5"/>
              </a:lnSpc>
            </a:pPr>
            <a:r>
              <a:rPr lang="en-US" b="true" sz="7500">
                <a:solidFill>
                  <a:srgbClr val="81D4BA"/>
                </a:solidFill>
                <a:latin typeface="Aileron Heavy"/>
                <a:ea typeface="Aileron Heavy"/>
                <a:cs typeface="Aileron Heavy"/>
                <a:sym typeface="Aileron Heavy"/>
              </a:rPr>
              <a:t>TECH</a:t>
            </a:r>
            <a:r>
              <a:rPr lang="en-US" b="true" sz="750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STACK</a:t>
            </a:r>
          </a:p>
        </p:txBody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857155" y="3296282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8" y="0"/>
                </a:lnTo>
                <a:lnTo>
                  <a:pt x="2102368" y="2023529"/>
                </a:lnTo>
                <a:lnTo>
                  <a:pt x="0" y="2023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3878448" y="3296282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8" y="0"/>
                </a:lnTo>
                <a:lnTo>
                  <a:pt x="2102368" y="2023529"/>
                </a:lnTo>
                <a:lnTo>
                  <a:pt x="0" y="2023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892584" y="3296282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8" y="0"/>
                </a:lnTo>
                <a:lnTo>
                  <a:pt x="2102368" y="2023529"/>
                </a:lnTo>
                <a:lnTo>
                  <a:pt x="0" y="2023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57229" y="3106597"/>
            <a:ext cx="792191" cy="79219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94954" y="3106597"/>
            <a:ext cx="755977" cy="7559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43537" y="3106597"/>
            <a:ext cx="755977" cy="75597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7740663" y="1124704"/>
            <a:ext cx="2096488" cy="710185"/>
          </a:xfrm>
          <a:custGeom>
            <a:avLst/>
            <a:gdLst/>
            <a:ahLst/>
            <a:cxnLst/>
            <a:rect r="r" b="b" t="t" l="l"/>
            <a:pathLst>
              <a:path h="710185" w="2096488">
                <a:moveTo>
                  <a:pt x="0" y="0"/>
                </a:moveTo>
                <a:lnTo>
                  <a:pt x="2096488" y="0"/>
                </a:lnTo>
                <a:lnTo>
                  <a:pt x="2096488" y="710185"/>
                </a:lnTo>
                <a:lnTo>
                  <a:pt x="0" y="71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343926" y="6458823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8" y="0"/>
                </a:lnTo>
                <a:lnTo>
                  <a:pt x="2102368" y="2023530"/>
                </a:lnTo>
                <a:lnTo>
                  <a:pt x="0" y="202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2365218" y="6458823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9" y="0"/>
                </a:lnTo>
                <a:lnTo>
                  <a:pt x="2102369" y="2023530"/>
                </a:lnTo>
                <a:lnTo>
                  <a:pt x="0" y="202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379355" y="6458823"/>
            <a:ext cx="2102368" cy="2023529"/>
          </a:xfrm>
          <a:custGeom>
            <a:avLst/>
            <a:gdLst/>
            <a:ahLst/>
            <a:cxnLst/>
            <a:rect r="r" b="b" t="t" l="l"/>
            <a:pathLst>
              <a:path h="2023529" w="2102368">
                <a:moveTo>
                  <a:pt x="0" y="0"/>
                </a:moveTo>
                <a:lnTo>
                  <a:pt x="2102368" y="0"/>
                </a:lnTo>
                <a:lnTo>
                  <a:pt x="2102368" y="2023530"/>
                </a:lnTo>
                <a:lnTo>
                  <a:pt x="0" y="202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44000" y="6269139"/>
            <a:ext cx="792191" cy="79219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81725" y="6269139"/>
            <a:ext cx="755977" cy="75597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30308" y="6269139"/>
            <a:ext cx="755977" cy="75597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93989" y="3827772"/>
            <a:ext cx="1028700" cy="960549"/>
          </a:xfrm>
          <a:custGeom>
            <a:avLst/>
            <a:gdLst/>
            <a:ahLst/>
            <a:cxnLst/>
            <a:rect r="r" b="b" t="t" l="l"/>
            <a:pathLst>
              <a:path h="960549" w="1028700">
                <a:moveTo>
                  <a:pt x="0" y="0"/>
                </a:moveTo>
                <a:lnTo>
                  <a:pt x="1028700" y="0"/>
                </a:lnTo>
                <a:lnTo>
                  <a:pt x="1028700" y="960549"/>
                </a:lnTo>
                <a:lnTo>
                  <a:pt x="0" y="960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64210" y="3736192"/>
            <a:ext cx="1130843" cy="1143710"/>
          </a:xfrm>
          <a:custGeom>
            <a:avLst/>
            <a:gdLst/>
            <a:ahLst/>
            <a:cxnLst/>
            <a:rect r="r" b="b" t="t" l="l"/>
            <a:pathLst>
              <a:path h="1143710" w="1130843">
                <a:moveTo>
                  <a:pt x="0" y="0"/>
                </a:moveTo>
                <a:lnTo>
                  <a:pt x="1130843" y="0"/>
                </a:lnTo>
                <a:lnTo>
                  <a:pt x="1130843" y="1143709"/>
                </a:lnTo>
                <a:lnTo>
                  <a:pt x="0" y="11437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352416" y="3736192"/>
            <a:ext cx="1236334" cy="1236334"/>
          </a:xfrm>
          <a:custGeom>
            <a:avLst/>
            <a:gdLst/>
            <a:ahLst/>
            <a:cxnLst/>
            <a:rect r="r" b="b" t="t" l="l"/>
            <a:pathLst>
              <a:path h="1236334" w="1236334">
                <a:moveTo>
                  <a:pt x="0" y="0"/>
                </a:moveTo>
                <a:lnTo>
                  <a:pt x="1236334" y="0"/>
                </a:lnTo>
                <a:lnTo>
                  <a:pt x="1236334" y="1236334"/>
                </a:lnTo>
                <a:lnTo>
                  <a:pt x="0" y="1236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839042" y="6904459"/>
            <a:ext cx="1320419" cy="1132259"/>
          </a:xfrm>
          <a:custGeom>
            <a:avLst/>
            <a:gdLst/>
            <a:ahLst/>
            <a:cxnLst/>
            <a:rect r="r" b="b" t="t" l="l"/>
            <a:pathLst>
              <a:path h="1132259" w="1320419">
                <a:moveTo>
                  <a:pt x="0" y="0"/>
                </a:moveTo>
                <a:lnTo>
                  <a:pt x="1320419" y="0"/>
                </a:lnTo>
                <a:lnTo>
                  <a:pt x="1320419" y="1132259"/>
                </a:lnTo>
                <a:lnTo>
                  <a:pt x="0" y="1132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775021" y="6904459"/>
            <a:ext cx="1311037" cy="1132259"/>
          </a:xfrm>
          <a:custGeom>
            <a:avLst/>
            <a:gdLst/>
            <a:ahLst/>
            <a:cxnLst/>
            <a:rect r="r" b="b" t="t" l="l"/>
            <a:pathLst>
              <a:path h="1132259" w="1311037">
                <a:moveTo>
                  <a:pt x="0" y="0"/>
                </a:moveTo>
                <a:lnTo>
                  <a:pt x="1311037" y="0"/>
                </a:lnTo>
                <a:lnTo>
                  <a:pt x="1311037" y="1132259"/>
                </a:lnTo>
                <a:lnTo>
                  <a:pt x="0" y="1132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777199" y="6806109"/>
            <a:ext cx="1278407" cy="1434398"/>
          </a:xfrm>
          <a:custGeom>
            <a:avLst/>
            <a:gdLst/>
            <a:ahLst/>
            <a:cxnLst/>
            <a:rect r="r" b="b" t="t" l="l"/>
            <a:pathLst>
              <a:path h="1434398" w="1278407">
                <a:moveTo>
                  <a:pt x="0" y="0"/>
                </a:moveTo>
                <a:lnTo>
                  <a:pt x="1278407" y="0"/>
                </a:lnTo>
                <a:lnTo>
                  <a:pt x="1278407" y="1434398"/>
                </a:lnTo>
                <a:lnTo>
                  <a:pt x="0" y="1434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71192" y="5503421"/>
            <a:ext cx="1874294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61533" y="5503421"/>
            <a:ext cx="1936196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43537" y="5503421"/>
            <a:ext cx="2400463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AI Model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0483" y="5899008"/>
            <a:ext cx="2255712" cy="23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eact.js, Axios, Tailwind CSS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06128" y="5899008"/>
            <a:ext cx="2247006" cy="23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lask (Python), REST API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1946" y="5899008"/>
            <a:ext cx="2183645" cy="47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 Model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, OpenCV, PyTorch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91187" y="3323718"/>
            <a:ext cx="324276" cy="31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b="true" sz="18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18216" y="3321576"/>
            <a:ext cx="309453" cy="29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b="true" sz="17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66799" y="3321576"/>
            <a:ext cx="309453" cy="29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b="true" sz="17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57963" y="8665963"/>
            <a:ext cx="1874294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48304" y="8665963"/>
            <a:ext cx="1936196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Deployment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30308" y="8665963"/>
            <a:ext cx="2400463" cy="24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b="true" sz="143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Version Control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67254" y="9061550"/>
            <a:ext cx="2255712" cy="47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TACO,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Kaggle, and Roboflow.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292899" y="9061550"/>
            <a:ext cx="2247006" cy="47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ercel (frontend), Render/Heroku (backend)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38717" y="9061550"/>
            <a:ext cx="2183645" cy="23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8"/>
              </a:lnSpc>
              <a:spcBef>
                <a:spcPct val="0"/>
              </a:spcBef>
            </a:pP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136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it &amp; GitHub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77957" y="6486260"/>
            <a:ext cx="324276" cy="31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  <a:spcBef>
                <a:spcPct val="0"/>
              </a:spcBef>
            </a:pPr>
            <a:r>
              <a:rPr lang="en-US" b="true" sz="18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04987" y="6484118"/>
            <a:ext cx="309453" cy="29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b="true" sz="17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453570" y="6484118"/>
            <a:ext cx="309453" cy="29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b="true" sz="17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824" y="1293895"/>
            <a:ext cx="12382353" cy="11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5"/>
              </a:lnSpc>
            </a:pPr>
            <a:r>
              <a:rPr lang="en-US" b="true" sz="7500">
                <a:solidFill>
                  <a:srgbClr val="81D4BA"/>
                </a:solidFill>
                <a:latin typeface="Aileron Heavy"/>
                <a:ea typeface="Aileron Heavy"/>
                <a:cs typeface="Aileron Heavy"/>
                <a:sym typeface="Aileron Heavy"/>
              </a:rPr>
              <a:t>EXPECTED </a:t>
            </a:r>
            <a:r>
              <a:rPr lang="en-US" b="true" sz="7500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OUTPUT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2560" y="9448800"/>
            <a:ext cx="18718944" cy="1013936"/>
            <a:chOff x="0" y="0"/>
            <a:chExt cx="4930092" cy="2670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0092" cy="267045"/>
            </a:xfrm>
            <a:custGeom>
              <a:avLst/>
              <a:gdLst/>
              <a:ahLst/>
              <a:cxnLst/>
              <a:rect r="r" b="b" t="t" l="l"/>
              <a:pathLst>
                <a:path h="267045" w="4930092">
                  <a:moveTo>
                    <a:pt x="0" y="0"/>
                  </a:moveTo>
                  <a:lnTo>
                    <a:pt x="4930092" y="0"/>
                  </a:lnTo>
                  <a:lnTo>
                    <a:pt x="4930092" y="267045"/>
                  </a:lnTo>
                  <a:lnTo>
                    <a:pt x="0" y="2670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30092" cy="305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1479" y="1634389"/>
            <a:ext cx="2622433" cy="543543"/>
          </a:xfrm>
          <a:custGeom>
            <a:avLst/>
            <a:gdLst/>
            <a:ahLst/>
            <a:cxnLst/>
            <a:rect r="r" b="b" t="t" l="l"/>
            <a:pathLst>
              <a:path h="543543" w="2622433">
                <a:moveTo>
                  <a:pt x="0" y="0"/>
                </a:moveTo>
                <a:lnTo>
                  <a:pt x="2622434" y="0"/>
                </a:lnTo>
                <a:lnTo>
                  <a:pt x="2622434" y="543543"/>
                </a:lnTo>
                <a:lnTo>
                  <a:pt x="0" y="54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32518" y="1634389"/>
            <a:ext cx="2622433" cy="543543"/>
          </a:xfrm>
          <a:custGeom>
            <a:avLst/>
            <a:gdLst/>
            <a:ahLst/>
            <a:cxnLst/>
            <a:rect r="r" b="b" t="t" l="l"/>
            <a:pathLst>
              <a:path h="543543" w="2622433">
                <a:moveTo>
                  <a:pt x="0" y="0"/>
                </a:moveTo>
                <a:lnTo>
                  <a:pt x="2622433" y="0"/>
                </a:lnTo>
                <a:lnTo>
                  <a:pt x="2622433" y="543543"/>
                </a:lnTo>
                <a:lnTo>
                  <a:pt x="0" y="54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566753" y="6105041"/>
            <a:ext cx="1633368" cy="553303"/>
          </a:xfrm>
          <a:custGeom>
            <a:avLst/>
            <a:gdLst/>
            <a:ahLst/>
            <a:cxnLst/>
            <a:rect r="r" b="b" t="t" l="l"/>
            <a:pathLst>
              <a:path h="553303" w="1633368">
                <a:moveTo>
                  <a:pt x="0" y="0"/>
                </a:moveTo>
                <a:lnTo>
                  <a:pt x="1633368" y="0"/>
                </a:lnTo>
                <a:lnTo>
                  <a:pt x="1633368" y="553304"/>
                </a:lnTo>
                <a:lnTo>
                  <a:pt x="0" y="553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88144" y="6133616"/>
            <a:ext cx="1633368" cy="553303"/>
          </a:xfrm>
          <a:custGeom>
            <a:avLst/>
            <a:gdLst/>
            <a:ahLst/>
            <a:cxnLst/>
            <a:rect r="r" b="b" t="t" l="l"/>
            <a:pathLst>
              <a:path h="553303" w="1633368">
                <a:moveTo>
                  <a:pt x="0" y="0"/>
                </a:moveTo>
                <a:lnTo>
                  <a:pt x="1633367" y="0"/>
                </a:lnTo>
                <a:lnTo>
                  <a:pt x="1633367" y="553304"/>
                </a:lnTo>
                <a:lnTo>
                  <a:pt x="0" y="553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3007536" y="3459264"/>
            <a:ext cx="3202524" cy="3082429"/>
          </a:xfrm>
          <a:custGeom>
            <a:avLst/>
            <a:gdLst/>
            <a:ahLst/>
            <a:cxnLst/>
            <a:rect r="r" b="b" t="t" l="l"/>
            <a:pathLst>
              <a:path h="3082429" w="3202524">
                <a:moveTo>
                  <a:pt x="0" y="0"/>
                </a:moveTo>
                <a:lnTo>
                  <a:pt x="3202524" y="0"/>
                </a:lnTo>
                <a:lnTo>
                  <a:pt x="3202524" y="3082429"/>
                </a:lnTo>
                <a:lnTo>
                  <a:pt x="0" y="3082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7609852" y="3459264"/>
            <a:ext cx="3202524" cy="3082429"/>
          </a:xfrm>
          <a:custGeom>
            <a:avLst/>
            <a:gdLst/>
            <a:ahLst/>
            <a:cxnLst/>
            <a:rect r="r" b="b" t="t" l="l"/>
            <a:pathLst>
              <a:path h="3082429" w="3202524">
                <a:moveTo>
                  <a:pt x="0" y="0"/>
                </a:moveTo>
                <a:lnTo>
                  <a:pt x="3202523" y="0"/>
                </a:lnTo>
                <a:lnTo>
                  <a:pt x="3202523" y="3082429"/>
                </a:lnTo>
                <a:lnTo>
                  <a:pt x="0" y="3082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2201266" y="3459264"/>
            <a:ext cx="3202524" cy="3082429"/>
          </a:xfrm>
          <a:custGeom>
            <a:avLst/>
            <a:gdLst/>
            <a:ahLst/>
            <a:cxnLst/>
            <a:rect r="r" b="b" t="t" l="l"/>
            <a:pathLst>
              <a:path h="3082429" w="3202524">
                <a:moveTo>
                  <a:pt x="0" y="0"/>
                </a:moveTo>
                <a:lnTo>
                  <a:pt x="3202524" y="0"/>
                </a:lnTo>
                <a:lnTo>
                  <a:pt x="3202524" y="3082429"/>
                </a:lnTo>
                <a:lnTo>
                  <a:pt x="0" y="3082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702991" y="3170319"/>
            <a:ext cx="1206740" cy="12067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82666" y="3170319"/>
            <a:ext cx="1151576" cy="11515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74223" y="3170319"/>
            <a:ext cx="1151576" cy="11515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4BA"/>
            </a:solidFill>
            <a:ln w="28575" cap="sq">
              <a:solidFill>
                <a:srgbClr val="8BDDC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653101" y="4085399"/>
            <a:ext cx="1911394" cy="1830160"/>
          </a:xfrm>
          <a:custGeom>
            <a:avLst/>
            <a:gdLst/>
            <a:ahLst/>
            <a:cxnLst/>
            <a:rect r="r" b="b" t="t" l="l"/>
            <a:pathLst>
              <a:path h="1830160" w="1911394">
                <a:moveTo>
                  <a:pt x="0" y="0"/>
                </a:moveTo>
                <a:lnTo>
                  <a:pt x="1911394" y="0"/>
                </a:lnTo>
                <a:lnTo>
                  <a:pt x="1911394" y="1830159"/>
                </a:lnTo>
                <a:lnTo>
                  <a:pt x="0" y="18301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822760" y="4033964"/>
            <a:ext cx="2800092" cy="2219073"/>
          </a:xfrm>
          <a:custGeom>
            <a:avLst/>
            <a:gdLst/>
            <a:ahLst/>
            <a:cxnLst/>
            <a:rect r="r" b="b" t="t" l="l"/>
            <a:pathLst>
              <a:path h="2219073" w="2800092">
                <a:moveTo>
                  <a:pt x="0" y="0"/>
                </a:moveTo>
                <a:lnTo>
                  <a:pt x="2800092" y="0"/>
                </a:lnTo>
                <a:lnTo>
                  <a:pt x="2800092" y="2219072"/>
                </a:lnTo>
                <a:lnTo>
                  <a:pt x="0" y="2219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68336" y="4547547"/>
            <a:ext cx="2068383" cy="1191906"/>
          </a:xfrm>
          <a:custGeom>
            <a:avLst/>
            <a:gdLst/>
            <a:ahLst/>
            <a:cxnLst/>
            <a:rect r="r" b="b" t="t" l="l"/>
            <a:pathLst>
              <a:path h="1191906" w="2068383">
                <a:moveTo>
                  <a:pt x="0" y="0"/>
                </a:moveTo>
                <a:lnTo>
                  <a:pt x="2068383" y="0"/>
                </a:lnTo>
                <a:lnTo>
                  <a:pt x="2068383" y="1191906"/>
                </a:lnTo>
                <a:lnTo>
                  <a:pt x="0" y="1191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890742" y="6902161"/>
            <a:ext cx="3436112" cy="72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eal-time waste detection from image input.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1381" y="6831797"/>
            <a:ext cx="3422850" cy="108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Detected object</a:t>
            </a: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 displayed with bounding boxes and labels.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39362" y="6902161"/>
            <a:ext cx="3326332" cy="72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Count</a:t>
            </a:r>
            <a:r>
              <a:rPr lang="en-US" sz="207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summary per category.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59377" y="3501945"/>
            <a:ext cx="493968" cy="48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9"/>
              </a:lnSpc>
              <a:spcBef>
                <a:spcPct val="0"/>
              </a:spcBef>
            </a:pPr>
            <a:r>
              <a:rPr lang="en-US" b="true" sz="28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22760" y="3493698"/>
            <a:ext cx="471387" cy="45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  <a:spcBef>
                <a:spcPct val="0"/>
              </a:spcBef>
            </a:pPr>
            <a:r>
              <a:rPr lang="en-US" b="true" sz="27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14317" y="3493698"/>
            <a:ext cx="471387" cy="45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  <a:spcBef>
                <a:spcPct val="0"/>
              </a:spcBef>
            </a:pPr>
            <a:r>
              <a:rPr lang="en-US" b="true" sz="27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90894" y="-57150"/>
            <a:ext cx="5292993" cy="4635780"/>
          </a:xfrm>
          <a:custGeom>
            <a:avLst/>
            <a:gdLst/>
            <a:ahLst/>
            <a:cxnLst/>
            <a:rect r="r" b="b" t="t" l="l"/>
            <a:pathLst>
              <a:path h="4635780" w="5292993">
                <a:moveTo>
                  <a:pt x="5292993" y="4635780"/>
                </a:moveTo>
                <a:lnTo>
                  <a:pt x="0" y="4635780"/>
                </a:lnTo>
                <a:lnTo>
                  <a:pt x="0" y="0"/>
                </a:lnTo>
                <a:lnTo>
                  <a:pt x="5292993" y="0"/>
                </a:lnTo>
                <a:lnTo>
                  <a:pt x="5292993" y="46357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9827" y="2772075"/>
            <a:ext cx="13668346" cy="237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8"/>
              </a:lnSpc>
            </a:pPr>
            <a:r>
              <a:rPr lang="en-US" b="true" sz="15047">
                <a:solidFill>
                  <a:srgbClr val="FFFFFF"/>
                </a:solidFill>
                <a:latin typeface="Aileron Heavy"/>
                <a:ea typeface="Aileron Heavy"/>
                <a:cs typeface="Aileron Heavy"/>
                <a:sym typeface="Aileron Heavy"/>
              </a:rPr>
              <a:t>THANK </a:t>
            </a:r>
            <a:r>
              <a:rPr lang="en-US" b="true" sz="15047">
                <a:solidFill>
                  <a:srgbClr val="81D4BA"/>
                </a:solidFill>
                <a:latin typeface="Aileron Heavy"/>
                <a:ea typeface="Aileron Heavy"/>
                <a:cs typeface="Aileron Heavy"/>
                <a:sym typeface="Aileron Heavy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79726" y="7918809"/>
            <a:ext cx="19263614" cy="3058099"/>
          </a:xfrm>
          <a:custGeom>
            <a:avLst/>
            <a:gdLst/>
            <a:ahLst/>
            <a:cxnLst/>
            <a:rect r="r" b="b" t="t" l="l"/>
            <a:pathLst>
              <a:path h="3058099" w="19263614">
                <a:moveTo>
                  <a:pt x="0" y="0"/>
                </a:moveTo>
                <a:lnTo>
                  <a:pt x="19263613" y="0"/>
                </a:lnTo>
                <a:lnTo>
                  <a:pt x="19263613" y="3058099"/>
                </a:lnTo>
                <a:lnTo>
                  <a:pt x="0" y="30580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1557" y="1834333"/>
            <a:ext cx="1316977" cy="446126"/>
          </a:xfrm>
          <a:custGeom>
            <a:avLst/>
            <a:gdLst/>
            <a:ahLst/>
            <a:cxnLst/>
            <a:rect r="r" b="b" t="t" l="l"/>
            <a:pathLst>
              <a:path h="446126" w="1316977">
                <a:moveTo>
                  <a:pt x="0" y="0"/>
                </a:moveTo>
                <a:lnTo>
                  <a:pt x="1316977" y="0"/>
                </a:lnTo>
                <a:lnTo>
                  <a:pt x="1316977" y="446126"/>
                </a:lnTo>
                <a:lnTo>
                  <a:pt x="0" y="446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33269" y="7424923"/>
            <a:ext cx="3364605" cy="697371"/>
          </a:xfrm>
          <a:custGeom>
            <a:avLst/>
            <a:gdLst/>
            <a:ahLst/>
            <a:cxnLst/>
            <a:rect r="r" b="b" t="t" l="l"/>
            <a:pathLst>
              <a:path h="697371" w="3364605">
                <a:moveTo>
                  <a:pt x="0" y="0"/>
                </a:moveTo>
                <a:lnTo>
                  <a:pt x="3364605" y="0"/>
                </a:lnTo>
                <a:lnTo>
                  <a:pt x="3364605" y="697371"/>
                </a:lnTo>
                <a:lnTo>
                  <a:pt x="0" y="697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2931" t="0" r="0" b="-334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8596" y="220935"/>
            <a:ext cx="5178437" cy="72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ICE-4108 | 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</a:t>
            </a:r>
            <a:r>
              <a:rPr lang="en-US" sz="2057" b="tru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rtificial Intelligence Lab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DAG4HCFl440</dc:identifier>
  <dcterms:modified xsi:type="dcterms:W3CDTF">2011-08-01T06:04:30Z</dcterms:modified>
  <cp:revision>1</cp:revision>
  <dc:title>ai project proposal</dc:title>
</cp:coreProperties>
</file>